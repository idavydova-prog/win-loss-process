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rg62.lightning.force.com/lightning/r/Opportunity/006ed00000FlbGP/view" TargetMode="External"/><Relationship Id="rId3" Type="http://schemas.openxmlformats.org/officeDocument/2006/relationships/hyperlink" Target="https://org62.lightning.force.com/lightning/r/Opportunity/0063y000017Utgb/view" TargetMode="External"/><Relationship Id="rId4" Type="http://schemas.openxmlformats.org/officeDocument/2006/relationships/hyperlink" Target="https://org62.lightning.force.com/lightning/r/Opportunity/006ed00000Cyqb7/view" TargetMode="External"/><Relationship Id="rId5" Type="http://schemas.openxmlformats.org/officeDocument/2006/relationships/hyperlink" Target="https://org62.lightning.force.com/lightning/r/Opportunity/006ed000008QdkH/view" TargetMode="External"/><Relationship Id="rId6" Type="http://schemas.openxmlformats.org/officeDocument/2006/relationships/hyperlink" Target="https://org62.lightning.force.com/lightning/r/Opportunity/006ed00000W7vbp/view" TargetMode="External"/><Relationship Id="rId7" Type="http://schemas.openxmlformats.org/officeDocument/2006/relationships/hyperlink" Target="https://org62.lightning.force.com/lightning/r/Opportunity/006ed00000VgQlr/view" TargetMode="External"/><Relationship Id="rId8" Type="http://schemas.openxmlformats.org/officeDocument/2006/relationships/hyperlink" Target="https://org62.lightning.force.com/lightning/r/Opportunity/006ed000009hX8P/view" TargetMode="External"/><Relationship Id="rId9" Type="http://schemas.openxmlformats.org/officeDocument/2006/relationships/hyperlink" Target="https://org62.lightning.force.com/lightning/r/Opportunity/006ed000007qNkT/view" TargetMode="External"/><Relationship Id="rId10" Type="http://schemas.openxmlformats.org/officeDocument/2006/relationships/hyperlink" Target="https://org62.lightning.force.com/lightning/r/Opportunity/006ed00000B5Kvp/view" TargetMode="External"/><Relationship Id="rId11" Type="http://schemas.openxmlformats.org/officeDocument/2006/relationships/hyperlink" Target="https://org62.lightning.force.com/lightning/r/Opportunity/0063y000017eulV/view" TargetMode="External"/><Relationship Id="rId12" Type="http://schemas.openxmlformats.org/officeDocument/2006/relationships/hyperlink" Target="https://org62.lightning.force.com/lightning/r/Opportunity/006ed0000095Ddn/view" TargetMode="External"/><Relationship Id="rId13" Type="http://schemas.openxmlformats.org/officeDocument/2006/relationships/hyperlink" Target="https://org62.lightning.force.com/lightning/r/Opportunity/006ed00000BGrLN/view" TargetMode="External"/><Relationship Id="rId14" Type="http://schemas.openxmlformats.org/officeDocument/2006/relationships/hyperlink" Target="https://org62.lightning.force.com/lightning/r/Opportunity/006ed00000A2zWH/view" TargetMode="External"/><Relationship Id="rId15" Type="http://schemas.openxmlformats.org/officeDocument/2006/relationships/hyperlink" Target="https://org62.lightning.force.com/lightning/r/Opportunity/006ed000000q0wn/view" TargetMode="External"/><Relationship Id="rId16" Type="http://schemas.openxmlformats.org/officeDocument/2006/relationships/hyperlink" Target="https://org62.lightning.force.com/lightning/r/Opportunity/0063y000019WqZX/view" TargetMode="External"/><Relationship Id="rId17" Type="http://schemas.openxmlformats.org/officeDocument/2006/relationships/hyperlink" Target="https://org62.lightning.force.com/lightning/r/Opportunity/0063y000019W10R/view" TargetMode="External"/><Relationship Id="rId18" Type="http://schemas.openxmlformats.org/officeDocument/2006/relationships/hyperlink" Target="https://org62.lightning.force.com/lightning/r/Opportunity/006ed0000095Iju/view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FY27 Q1 CC Attrition &gt;$100K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22960"/>
          <a:ext cx="640080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371600"/>
                <a:gridCol w="15544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Full/Partial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Attrition Amount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2"/>
                        </a:rPr>
                        <a:t>Under Armour,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$2,290,058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3"/>
                        </a:rPr>
                        <a:t>YETI Coolers, LLC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$2,007,929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4"/>
                        </a:rPr>
                        <a:t>Tapestry,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5"/>
                        </a:rPr>
                        <a:t>Cole Haan LLC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$1,650,074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6"/>
                        </a:rPr>
                        <a:t>Otto Environmental Systems North America Inc.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$1,261,343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7"/>
                        </a:rPr>
                        <a:t>Vista Outdoor Operations LLC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$953,841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8"/>
                        </a:rPr>
                        <a:t>Claire's Stores, Inc.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$673,080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9"/>
                        </a:rPr>
                        <a:t>Nebraska Furniture Mart, Inc.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$654,968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10"/>
                        </a:rPr>
                        <a:t>PartyCity.com, LLC (a wholly owned subsidiary of Ad Populum, LLC)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$471,702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11"/>
                        </a:rPr>
                        <a:t>Lands' End, Inc.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$300,125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12"/>
                        </a:rPr>
                        <a:t>Riboli Family Wines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$268,464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13"/>
                        </a:rPr>
                        <a:t>Gap Inc.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$188,000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14"/>
                        </a:rPr>
                        <a:t>SLT Lending SPV, Inc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$156,411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15"/>
                        </a:rPr>
                        <a:t>Dunham's Athleisure Corporation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$153,198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16"/>
                        </a:rPr>
                        <a:t>Land O'Lakes - Purina Animal Feed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$143,360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17"/>
                        </a:rPr>
                        <a:t>Kendra Scott LLC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$116,228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u="sng">
                          <a:solidFill>
                            <a:srgbClr val="0070C0"/>
                          </a:solidFill>
                          <a:hlinkClick r:id="rId18"/>
                        </a:rPr>
                        <a:t>Hallmark Cards, Incorporated.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</a:rPr>
                        <a:t>$100,000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040880" y="822960"/>
            <a:ext cx="4892040" cy="57607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0" y="822960"/>
            <a:ext cx="4892040" cy="40233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822960"/>
            <a:ext cx="48920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Key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316736"/>
            <a:ext cx="4526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</a:rPr>
              <a:t>17 Customers &gt;$100K attrition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000000"/>
                </a:solidFill>
              </a:rPr>
              <a:t>8 Logos Lost  |  9 Logos Retained (Partial)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000000"/>
                </a:solidFill>
              </a:rPr>
              <a:t>$13.4M Total Attrition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</a:rPr>
              <a:t>12 Oncycle: </a:t>
            </a:r>
            <a:r>
              <a:rPr sz="1000" u="sng">
                <a:solidFill>
                  <a:srgbClr val="0070C0"/>
                </a:solidFill>
                <a:hlinkClick r:id="rId3"/>
              </a:rPr>
              <a:t>YETI Coolers,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5"/>
              </a:rPr>
              <a:t>Cole Haan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7"/>
              </a:rPr>
              <a:t>Vista Outdoor Operations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10"/>
              </a:rPr>
              <a:t>PartyCity.com, (a wholly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11"/>
              </a:rPr>
              <a:t>Lands' End,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12"/>
              </a:rPr>
              <a:t>Riboli Family Wines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13"/>
              </a:rPr>
              <a:t>Gap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14"/>
              </a:rPr>
              <a:t>SLT Lending SPV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15"/>
              </a:rPr>
              <a:t>Dunham's Athleisureoration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16"/>
              </a:rPr>
              <a:t>Land O'Lakes -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17"/>
              </a:rPr>
              <a:t>Kendra Scott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18"/>
              </a:rPr>
              <a:t>Hallmark Cardsorporated.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</a:rPr>
              <a:t>4 Offcycle: </a:t>
            </a:r>
            <a:r>
              <a:rPr sz="1000" u="sng">
                <a:solidFill>
                  <a:srgbClr val="0070C0"/>
                </a:solidFill>
                <a:hlinkClick r:id="rId2"/>
              </a:rPr>
              <a:t>Under Armour,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4"/>
              </a:rPr>
              <a:t>Tapestry,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6"/>
              </a:rPr>
              <a:t>Otto Environmental Systems</a:t>
            </a:r>
            <a:r>
              <a:rPr sz="1000" b="0">
                <a:solidFill>
                  <a:srgbClr val="000000"/>
                </a:solidFill>
              </a:rPr>
              <a:t>, </a:t>
            </a:r>
            <a:r>
              <a:rPr sz="1000" u="sng">
                <a:solidFill>
                  <a:srgbClr val="0070C0"/>
                </a:solidFill>
                <a:hlinkClick r:id="rId9"/>
              </a:rPr>
              <a:t>Nebraska Furniture Mart,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</a:rPr>
              <a:t>1 Mixed: </a:t>
            </a:r>
            <a:r>
              <a:rPr sz="1000" u="sng">
                <a:solidFill>
                  <a:srgbClr val="0070C0"/>
                </a:solidFill>
                <a:hlinkClick r:id="rId8"/>
              </a:rPr>
              <a:t>Claire's Stores,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3108960"/>
            <a:ext cx="45262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3200400"/>
            <a:ext cx="4526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</a:rPr>
              <a:t>Top Attrition Drivers: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</a:rPr>
              <a:t>Customer Relationship: 3 customers  ($3.1M)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</a:rPr>
              <a:t>NCO Attrition: 2 customers  ($2.7M)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</a:rPr>
              <a:t>Concessions: 1 customer  ($2.3M)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</a:rPr>
              <a:t>Financial &amp; Contractual: 2 customers  ($2.0M)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</a:rPr>
              <a:t>Economic/ Bad Debt: 2 customers  ($1.9M)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</a:rPr>
              <a:t>Business Change &amp; Distress: 4 customers  ($1.0M)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</a:rPr>
              <a:t>Success Plan &amp; Support: 1 customer  ($0.2M)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4709160"/>
            <a:ext cx="45262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4800599"/>
            <a:ext cx="4526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1F4E79"/>
                </a:solidFill>
              </a:rPr>
              <a:t>Shopify competitive losses: </a:t>
            </a:r>
            <a:r>
              <a:rPr sz="1100" u="sng">
                <a:solidFill>
                  <a:srgbClr val="0070C0"/>
                </a:solidFill>
                <a:hlinkClick r:id="rId5"/>
              </a:rPr>
              <a:t>Cole Haan</a:t>
            </a:r>
            <a:r>
              <a:rPr sz="1100" b="0">
                <a:solidFill>
                  <a:srgbClr val="1F4E79"/>
                </a:solidFill>
              </a:rPr>
              <a:t>, </a:t>
            </a:r>
            <a:r>
              <a:rPr sz="1100" u="sng">
                <a:solidFill>
                  <a:srgbClr val="0070C0"/>
                </a:solidFill>
                <a:hlinkClick r:id="rId10"/>
              </a:rPr>
              <a:t>PartyCity.com, (a wholly</a:t>
            </a:r>
            <a:r>
              <a:rPr sz="1100" b="0">
                <a:solidFill>
                  <a:srgbClr val="1F4E79"/>
                </a:solidFill>
              </a:rPr>
              <a:t>, </a:t>
            </a:r>
            <a:r>
              <a:rPr sz="1100" u="sng">
                <a:solidFill>
                  <a:srgbClr val="0070C0"/>
                </a:solidFill>
                <a:hlinkClick r:id="rId11"/>
              </a:rPr>
              <a:t>Lands' End,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F4E79"/>
                </a:solidFill>
              </a:rPr>
              <a:t>Oversold/GMV mismatch: </a:t>
            </a:r>
            <a:r>
              <a:rPr sz="1100" u="sng">
                <a:solidFill>
                  <a:srgbClr val="0070C0"/>
                </a:solidFill>
                <a:hlinkClick r:id="rId2"/>
              </a:rPr>
              <a:t>Under Armour,</a:t>
            </a:r>
            <a:r>
              <a:rPr sz="1100" b="0">
                <a:solidFill>
                  <a:srgbClr val="1F4E79"/>
                </a:solidFill>
              </a:rPr>
              <a:t>, </a:t>
            </a:r>
            <a:r>
              <a:rPr sz="1100" u="sng">
                <a:solidFill>
                  <a:srgbClr val="0070C0"/>
                </a:solidFill>
                <a:hlinkClick r:id="rId4"/>
              </a:rPr>
              <a:t>Tapestry,</a:t>
            </a:r>
            <a:r>
              <a:rPr sz="1100" b="0">
                <a:solidFill>
                  <a:srgbClr val="1F4E79"/>
                </a:solidFill>
              </a:rPr>
              <a:t>, </a:t>
            </a:r>
            <a:r>
              <a:rPr sz="1100" u="sng">
                <a:solidFill>
                  <a:srgbClr val="0070C0"/>
                </a:solidFill>
                <a:hlinkClick r:id="rId3"/>
              </a:rPr>
              <a:t>YETI Coolers,</a:t>
            </a:r>
            <a:r>
              <a:rPr sz="1100" b="0">
                <a:solidFill>
                  <a:srgbClr val="1F4E79"/>
                </a:solidFill>
              </a:rPr>
              <a:t>, </a:t>
            </a:r>
            <a:r>
              <a:rPr sz="1100" u="sng">
                <a:solidFill>
                  <a:srgbClr val="0070C0"/>
                </a:solidFill>
                <a:hlinkClick r:id="rId7"/>
              </a:rPr>
              <a:t>Vista Outdoor Operations</a:t>
            </a:r>
            <a:r>
              <a:rPr sz="1100" b="0">
                <a:solidFill>
                  <a:srgbClr val="1F4E79"/>
                </a:solidFill>
              </a:rPr>
              <a:t>, </a:t>
            </a:r>
            <a:r>
              <a:rPr sz="1100" u="sng">
                <a:solidFill>
                  <a:srgbClr val="0070C0"/>
                </a:solidFill>
                <a:hlinkClick r:id="rId17"/>
              </a:rPr>
              <a:t>Kendra Scott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F4E79"/>
                </a:solidFill>
              </a:rPr>
              <a:t>Bad Debt / Bankruptcy: </a:t>
            </a:r>
            <a:r>
              <a:rPr sz="1100" u="sng">
                <a:solidFill>
                  <a:srgbClr val="0070C0"/>
                </a:solidFill>
                <a:hlinkClick r:id="rId6"/>
              </a:rPr>
              <a:t>Otto Environmental Systems</a:t>
            </a:r>
            <a:r>
              <a:rPr sz="1100" b="0">
                <a:solidFill>
                  <a:srgbClr val="1F4E79"/>
                </a:solidFill>
              </a:rPr>
              <a:t>, </a:t>
            </a:r>
            <a:r>
              <a:rPr sz="1100" u="sng">
                <a:solidFill>
                  <a:srgbClr val="0070C0"/>
                </a:solidFill>
                <a:hlinkClick r:id="rId8"/>
              </a:rPr>
              <a:t>Claire's Stores,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F4E79"/>
                </a:solidFill>
              </a:rPr>
              <a:t>Competitors: Shopify, homegrown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